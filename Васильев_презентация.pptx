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media/image2.svg" ContentType="image/svg"/>
  <Override PartName="/ppt/media/image4.svg" ContentType="image/svg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ueprint Pla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10078920" cy="566892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504000" y="810000"/>
            <a:ext cx="9070920" cy="129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504000" y="2376000"/>
            <a:ext cx="9070920" cy="275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504000" y="516492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3447360" y="516492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7227360" y="516492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66C728E-3E52-4676-BF40-4CB33C88813F}" type="slidenum"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10078920" cy="566892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810000"/>
            <a:ext cx="9070920" cy="129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04000" y="2376000"/>
            <a:ext cx="9070920" cy="275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4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4"/>
          </p:nvPr>
        </p:nvSpPr>
        <p:spPr>
          <a:xfrm>
            <a:off x="504000" y="516492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5"/>
          </p:nvPr>
        </p:nvSpPr>
        <p:spPr>
          <a:xfrm>
            <a:off x="3447360" y="516492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6"/>
          </p:nvPr>
        </p:nvSpPr>
        <p:spPr>
          <a:xfrm>
            <a:off x="7227360" y="516492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30D7213-43D2-42F5-8782-89C8BAC090E0}" type="slidenum"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0" y="0"/>
            <a:ext cx="10078920" cy="566892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572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2100" b="1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800" b="1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spcBef>
                <a:spcPts val="42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ru-RU" sz="1500" b="1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500" b="1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500" b="1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ru-RU" sz="1500" b="1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06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2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1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1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638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42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5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5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5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1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5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7"/>
          </p:nvPr>
        </p:nvSpPr>
        <p:spPr>
          <a:xfrm>
            <a:off x="504000" y="5165280"/>
            <a:ext cx="234720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8"/>
          </p:nvPr>
        </p:nvSpPr>
        <p:spPr>
          <a:xfrm>
            <a:off x="3447360" y="5165280"/>
            <a:ext cx="319392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9"/>
          </p:nvPr>
        </p:nvSpPr>
        <p:spPr>
          <a:xfrm>
            <a:off x="7227360" y="5165280"/>
            <a:ext cx="2347200" cy="38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A67E38F-881B-4ACF-B205-15F0A10308B6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504000" y="786600"/>
            <a:ext cx="9070920" cy="1341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Система умного климат-контроля автоматизированная - SCCS</a:t>
            </a:r>
            <a:endParaRPr lang="ru-RU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0" y="2429280"/>
            <a:ext cx="5075280" cy="1890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100000"/>
              </a:lnSpc>
              <a:spcBef>
                <a:spcPts val="1414"/>
              </a:spcBef>
              <a:buNone/>
              <a:tabLst>
                <a:tab pos="0" algn="l"/>
              </a:tabLst>
            </a:pP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Выполнил: Васильев В.Е.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414"/>
              </a:spcBef>
              <a:buNone/>
              <a:tabLst>
                <a:tab pos="0" algn="l"/>
              </a:tabLst>
            </a:pP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Проверил: Здойма М.В.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:wipe dir="u"/>
      </p:transition>
    </mc:Choice>
    <mc:Fallback>
      <p:transition spd="slow">
        <p:wipe dir="u"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360000" y="-529920"/>
            <a:ext cx="2194920" cy="251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5400" b="0" u="none" strike="noStrike">
                <a:solidFill>
                  <a:srgbClr val="000000"/>
                </a:solidFill>
                <a:effectLst/>
                <a:uFillTx/>
                <a:latin typeface="Arial Black"/>
              </a:rPr>
              <a:t>Цель:</a:t>
            </a:r>
            <a:endParaRPr lang="ru-RU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468000" y="1800000"/>
            <a:ext cx="3490920" cy="96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>
              <a:lnSpc>
                <a:spcPct val="100000"/>
              </a:lnSpc>
            </a:pPr>
            <a:r>
              <a:rPr lang="ru-RU" sz="5400" b="0" u="none" strike="noStrike">
                <a:solidFill>
                  <a:srgbClr val="000000"/>
                </a:solidFill>
                <a:effectLst/>
                <a:uFillTx/>
                <a:latin typeface="Arial Black"/>
                <a:ea typeface="DejaVu Sans"/>
              </a:rPr>
              <a:t>Задачи:</a:t>
            </a:r>
            <a:endParaRPr lang="ru-RU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360000" y="2880000"/>
            <a:ext cx="9538920" cy="178848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1. Найти информацию о компонентах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2. Создать макет, соблюсти правила универсального дизайна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3. Написать документацию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360000" y="1211760"/>
            <a:ext cx="7378920" cy="768960"/>
          </a:xfrm>
          <a:prstGeom prst="rect">
            <a:avLst/>
          </a:prstGeom>
          <a:noFill/>
          <a:ln w="18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Создать систему умного климат-контроля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14:prism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920" cy="94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Компоненты для проекта 1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"/>
          <p:cNvPicPr/>
          <p:nvPr/>
        </p:nvPicPr>
        <p:blipFill>
          <a:blip r:embed="rId1"/>
          <a:stretch/>
        </p:blipFill>
        <p:spPr>
          <a:xfrm>
            <a:off x="720000" y="1620000"/>
            <a:ext cx="1619280" cy="161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" name=""/>
          <p:cNvPicPr/>
          <p:nvPr/>
        </p:nvPicPr>
        <p:blipFill>
          <a:blip r:embed="rId2"/>
          <a:stretch/>
        </p:blipFill>
        <p:spPr>
          <a:xfrm>
            <a:off x="2520000" y="2785680"/>
            <a:ext cx="2613600" cy="261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" name=""/>
          <p:cNvPicPr/>
          <p:nvPr/>
        </p:nvPicPr>
        <p:blipFill>
          <a:blip r:embed="rId3"/>
          <a:stretch/>
        </p:blipFill>
        <p:spPr>
          <a:xfrm>
            <a:off x="5220000" y="1800000"/>
            <a:ext cx="1439280" cy="143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"/>
          <p:cNvPicPr/>
          <p:nvPr/>
        </p:nvPicPr>
        <p:blipFill>
          <a:blip r:embed="rId4"/>
          <a:stretch/>
        </p:blipFill>
        <p:spPr>
          <a:xfrm>
            <a:off x="5940000" y="3060000"/>
            <a:ext cx="3371760" cy="2067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>
        <p15:prstTrans prst="fallOver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920" cy="94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Компоненты для проекта 2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"/>
          <p:cNvPicPr/>
          <p:nvPr/>
        </p:nvPicPr>
        <p:blipFill>
          <a:blip r:embed="rId1"/>
          <a:stretch/>
        </p:blipFill>
        <p:spPr>
          <a:xfrm>
            <a:off x="720000" y="1080000"/>
            <a:ext cx="2519280" cy="251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" name=""/>
          <p:cNvPicPr/>
          <p:nvPr/>
        </p:nvPicPr>
        <p:blipFill>
          <a:blip r:embed="rId2"/>
          <a:stretch/>
        </p:blipFill>
        <p:spPr>
          <a:xfrm>
            <a:off x="2880000" y="1620000"/>
            <a:ext cx="2879280" cy="287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" name=""/>
          <p:cNvPicPr/>
          <p:nvPr/>
        </p:nvPicPr>
        <p:blipFill>
          <a:blip r:embed="rId3"/>
          <a:stretch/>
        </p:blipFill>
        <p:spPr>
          <a:xfrm>
            <a:off x="6120000" y="2160000"/>
            <a:ext cx="2601000" cy="2601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>
        <p14:prism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920" cy="94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Языки и программы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" name=""/>
          <p:cNvPicPr/>
          <p:nvPr/>
        </p:nvPicPr>
        <p:blipFill>
          <a:blip r:embed="rId1"/>
          <a:stretch/>
        </p:blipFill>
        <p:spPr>
          <a:xfrm>
            <a:off x="740160" y="2160000"/>
            <a:ext cx="2499120" cy="249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" name=""/>
          <p:cNvPicPr/>
          <p:nvPr/>
        </p:nvPicPr>
        <p:blipFill>
          <a:blip r:embed="rId2"/>
          <a:stretch/>
        </p:blipFill>
        <p:spPr>
          <a:xfrm>
            <a:off x="3600000" y="1022400"/>
            <a:ext cx="1974240" cy="221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" name=""/>
          <p:cNvPicPr/>
          <p:nvPr/>
        </p:nvPicPr>
        <p:blipFill>
          <a:blip r:embed="rId3"/>
          <a:srcRect l="0" t="0" r="29176" b="0"/>
          <a:stretch/>
        </p:blipFill>
        <p:spPr>
          <a:xfrm>
            <a:off x="5940000" y="2160000"/>
            <a:ext cx="3418920" cy="3035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>
        <p14:prism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920" cy="94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Кодовая часть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" name=""/>
          <p:cNvPicPr/>
          <p:nvPr/>
        </p:nvPicPr>
        <p:blipFill>
          <a:blip r:embed="rId1"/>
          <a:stretch/>
        </p:blipFill>
        <p:spPr>
          <a:xfrm>
            <a:off x="540000" y="1080000"/>
            <a:ext cx="4006800" cy="395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" name=""/>
          <p:cNvPicPr/>
          <p:nvPr/>
        </p:nvPicPr>
        <p:blipFill>
          <a:blip r:embed="rId2"/>
          <a:stretch/>
        </p:blipFill>
        <p:spPr>
          <a:xfrm>
            <a:off x="5580000" y="1440000"/>
            <a:ext cx="2739240" cy="213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"/>
          <p:cNvSpPr/>
          <p:nvPr/>
        </p:nvSpPr>
        <p:spPr>
          <a:xfrm>
            <a:off x="4547520" y="4140000"/>
            <a:ext cx="3371760" cy="89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Антидребезг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и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Вывод интерфейса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:dissolve/>
      </p:transition>
    </mc:Choice>
    <mc:Fallback>
      <p:transition spd="slow">
        <p:dissolv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/>
          <p:cNvPicPr/>
          <p:nvPr/>
        </p:nvPicPr>
        <p:blipFill>
          <a:blip r:embed="rId1"/>
          <a:stretch/>
        </p:blipFill>
        <p:spPr>
          <a:xfrm>
            <a:off x="360000" y="1260000"/>
            <a:ext cx="2917440" cy="344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" name=""/>
          <p:cNvPicPr/>
          <p:nvPr/>
        </p:nvPicPr>
        <p:blipFill>
          <a:blip r:embed="rId2"/>
          <a:stretch/>
        </p:blipFill>
        <p:spPr>
          <a:xfrm>
            <a:off x="5940000" y="1364760"/>
            <a:ext cx="3376440" cy="3314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"/>
          <p:cNvSpPr/>
          <p:nvPr/>
        </p:nvSpPr>
        <p:spPr>
          <a:xfrm>
            <a:off x="3420000" y="2160000"/>
            <a:ext cx="2159280" cy="197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Добавление устройств</a:t>
            </a:r>
            <a:br>
              <a:rPr sz="1800"/>
            </a:b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И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Использование EEPROM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:fade thruBlk="true"/>
      </p:transition>
    </mc:Choice>
    <mc:Fallback>
      <p:transition spd="slow">
        <p:fade thruBlk="true"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224640"/>
            <a:ext cx="9070920" cy="94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Побольше о станциях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" name=""/>
          <p:cNvPicPr/>
          <p:nvPr/>
        </p:nvPicPr>
        <p:blipFill>
          <a:blip r:embed="rId1"/>
          <a:srcRect l="55351" t="31742" r="28575" b="15876"/>
          <a:stretch/>
        </p:blipFill>
        <p:spPr>
          <a:xfrm>
            <a:off x="1260000" y="1172520"/>
            <a:ext cx="2159280" cy="395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" name=""/>
          <p:cNvPicPr/>
          <p:nvPr/>
        </p:nvPicPr>
        <p:blipFill>
          <a:blip r:embed="rId2"/>
          <a:stretch/>
        </p:blipFill>
        <p:spPr>
          <a:xfrm>
            <a:off x="3976560" y="1620000"/>
            <a:ext cx="5202720" cy="3246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>
        <p:fade thruBlk="true"/>
      </p:transition>
    </mc:Choice>
    <mc:Fallback>
      <p:transition spd="slow">
        <p:fade thruBlk="true"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"/>
          <p:cNvPicPr/>
          <p:nvPr/>
        </p:nvPicPr>
        <p:blipFill>
          <a:blip r:embed="rId1"/>
          <a:stretch/>
        </p:blipFill>
        <p:spPr>
          <a:xfrm>
            <a:off x="1440000" y="2340000"/>
            <a:ext cx="3555360" cy="2758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" name=""/>
          <p:cNvPicPr/>
          <p:nvPr/>
        </p:nvPicPr>
        <p:blipFill>
          <a:blip r:embed="rId2"/>
          <a:stretch/>
        </p:blipFill>
        <p:spPr>
          <a:xfrm>
            <a:off x="5469840" y="1440000"/>
            <a:ext cx="3529440" cy="269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>
        <p:fade thruBlk="true"/>
      </p:transition>
    </mc:Choice>
    <mc:Fallback>
      <p:transition spd="slow">
        <p:fade thruBlk="true"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Соблюдение универсального дизайна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равенство в пользовании ✅</a:t>
            </a:r>
            <a:endParaRPr lang="ru-RU" sz="2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2.гибкость в пользовании ❌    \ ✅</a:t>
            </a:r>
            <a:endParaRPr lang="ru-RU" sz="2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3. интуитивный дизайн ✅</a:t>
            </a:r>
            <a:endParaRPr lang="ru-RU" sz="2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4. Доступная информация ✅</a:t>
            </a:r>
            <a:endParaRPr lang="ru-RU" sz="2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5. допустимость ошибки ❌    \ ✅</a:t>
            </a:r>
            <a:endParaRPr lang="ru-RU" sz="2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6. низкие физические усилия ✅</a:t>
            </a:r>
            <a:endParaRPr lang="ru-RU" sz="2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7. размер и пространство для доступа ✅</a:t>
            </a:r>
            <a:endParaRPr lang="ru-RU" sz="2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:cut thruBlk="true"/>
      </p:transition>
    </mc:Choice>
    <mc:Fallback>
      <p:transition spd="slow">
        <p:cut thruBlk="true"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225000"/>
            <a:ext cx="9070920" cy="94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3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Заключение</a:t>
            </a:r>
            <a:endParaRPr lang="ru-R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p>
            <a:pPr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Готовый продукт работает, учитывает критерии</a:t>
            </a:r>
            <a:endParaRPr lang="ru-RU" sz="2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универсального дизайна.</a:t>
            </a:r>
            <a:endParaRPr lang="ru-RU" sz="2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Код написан для двух устройств и выложен в репозиторий </a:t>
            </a:r>
            <a:endParaRPr lang="ru-RU" sz="2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 </a:t>
            </a:r>
            <a:endParaRPr lang="ru-RU" sz="2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Во время работы над проектом были получены полезные</a:t>
            </a:r>
            <a:endParaRPr lang="ru-RU" sz="2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практические навыки и знания в области программирования</a:t>
            </a:r>
            <a:endParaRPr lang="ru-RU" sz="2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spcBef>
                <a:spcPts val="1060"/>
              </a:spcBef>
              <a:buNone/>
              <a:tabLst>
                <a:tab pos="0" algn="l"/>
              </a:tabLst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на языке C и работы с arduino</a:t>
            </a:r>
            <a:endParaRPr lang="ru-RU" sz="24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2026-04-25T20:39:29Z</dcterms:created>
  <dc:creator/>
  <dc:description>This work is licensed under a Creative Commons Attribution-ShareAlike 3.0 Unported License.
It makes use of the works of Mateus Machado Luna.
SVG pictures were made by Rizmut.</dc:description>
  <dc:language>ru-RU</dc:language>
  <cp:lastModifiedBy/>
  <dcterms:modified xsi:type="dcterms:W3CDTF">2026-05-16T19:48:47Z</dcterms:modified>
  <cp:revision>9</cp:revision>
  <dc:subject/>
  <dc:title>Blueprint Plans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