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media/image2.svg" ContentType="image/svg"/>
  <Override PartName="/ppt/media/image4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78560" cy="56685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0560" cy="129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0560" cy="275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504000" y="516492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47360" y="516492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227360" y="516492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C081546-80EB-47B6-BFDC-881E3ABE968C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78560" cy="56685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0560" cy="129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0560" cy="275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504000" y="516492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447360" y="516492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7227360" y="516492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2CF80FE-79E7-46B5-AD48-5B79E4D080C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78560" cy="56685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50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1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1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5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5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5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5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504000" y="516528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47360" y="5165280"/>
            <a:ext cx="319356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7847D4F-48FC-4EEE-9C78-660A232B5054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786240"/>
            <a:ext cx="9070560" cy="134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Система умного климат-контроля автоматизированная - SCCS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0" y="2428920"/>
            <a:ext cx="507492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100000"/>
              </a:lnSpc>
              <a:spcBef>
                <a:spcPts val="1414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Выполнил: Васильев В.Е.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4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Проверил: Здойма М.В.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wipe dir="u"/>
      </p:transition>
    </mc:Choice>
    <mc:Fallback>
      <p:transition spd="slow">
        <p:wipe dir="u"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60000" y="-530280"/>
            <a:ext cx="2194560" cy="25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Arial Black"/>
              </a:rPr>
              <a:t>Цель: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468000" y="1800000"/>
            <a:ext cx="3490560" cy="96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Arial Black"/>
                <a:ea typeface="DejaVu Sans"/>
              </a:rPr>
              <a:t>Задачи: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360000" y="2880000"/>
            <a:ext cx="9538560" cy="178812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1. Найти информацию о компонентах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 Создать макет, соблюсти правила универсального дизайна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3. Написать документацию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360000" y="1211760"/>
            <a:ext cx="7378560" cy="7686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Создать систему умного климат-контроля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4280"/>
            <a:ext cx="9070560" cy="9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Компоненты для проекта 1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"/>
          <p:cNvPicPr/>
          <p:nvPr/>
        </p:nvPicPr>
        <p:blipFill>
          <a:blip r:embed="rId1"/>
          <a:stretch/>
        </p:blipFill>
        <p:spPr>
          <a:xfrm>
            <a:off x="720000" y="1620000"/>
            <a:ext cx="1618920" cy="161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"/>
          <p:cNvPicPr/>
          <p:nvPr/>
        </p:nvPicPr>
        <p:blipFill>
          <a:blip r:embed="rId2"/>
          <a:stretch/>
        </p:blipFill>
        <p:spPr>
          <a:xfrm>
            <a:off x="2520000" y="2785680"/>
            <a:ext cx="2613240" cy="261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"/>
          <p:cNvPicPr/>
          <p:nvPr/>
        </p:nvPicPr>
        <p:blipFill>
          <a:blip r:embed="rId3"/>
          <a:stretch/>
        </p:blipFill>
        <p:spPr>
          <a:xfrm>
            <a:off x="5220000" y="1800000"/>
            <a:ext cx="1438920" cy="143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"/>
          <p:cNvPicPr/>
          <p:nvPr/>
        </p:nvPicPr>
        <p:blipFill>
          <a:blip r:embed="rId4"/>
          <a:stretch/>
        </p:blipFill>
        <p:spPr>
          <a:xfrm>
            <a:off x="5940000" y="3060000"/>
            <a:ext cx="3371400" cy="2066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4280"/>
            <a:ext cx="9070560" cy="9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Компоненты для проекта 2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"/>
          <p:cNvPicPr/>
          <p:nvPr/>
        </p:nvPicPr>
        <p:blipFill>
          <a:blip r:embed="rId1"/>
          <a:stretch/>
        </p:blipFill>
        <p:spPr>
          <a:xfrm>
            <a:off x="720000" y="1080000"/>
            <a:ext cx="2518920" cy="251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"/>
          <p:cNvPicPr/>
          <p:nvPr/>
        </p:nvPicPr>
        <p:blipFill>
          <a:blip r:embed="rId2"/>
          <a:stretch/>
        </p:blipFill>
        <p:spPr>
          <a:xfrm>
            <a:off x="2880000" y="1620000"/>
            <a:ext cx="2878920" cy="287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"/>
          <p:cNvPicPr/>
          <p:nvPr/>
        </p:nvPicPr>
        <p:blipFill>
          <a:blip r:embed="rId3"/>
          <a:stretch/>
        </p:blipFill>
        <p:spPr>
          <a:xfrm>
            <a:off x="6120000" y="2160000"/>
            <a:ext cx="2600640" cy="2600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4280"/>
            <a:ext cx="9070560" cy="9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Языки и программы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"/>
          <p:cNvPicPr/>
          <p:nvPr/>
        </p:nvPicPr>
        <p:blipFill>
          <a:blip r:embed="rId1"/>
          <a:stretch/>
        </p:blipFill>
        <p:spPr>
          <a:xfrm>
            <a:off x="740160" y="2160000"/>
            <a:ext cx="2498760" cy="249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"/>
          <p:cNvPicPr/>
          <p:nvPr/>
        </p:nvPicPr>
        <p:blipFill>
          <a:blip r:embed="rId2"/>
          <a:stretch/>
        </p:blipFill>
        <p:spPr>
          <a:xfrm>
            <a:off x="3600000" y="1022400"/>
            <a:ext cx="1973880" cy="2216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"/>
          <p:cNvPicPr/>
          <p:nvPr/>
        </p:nvPicPr>
        <p:blipFill>
          <a:blip r:embed="rId3"/>
          <a:srcRect l="0" t="0" r="29176" b="0"/>
          <a:stretch/>
        </p:blipFill>
        <p:spPr>
          <a:xfrm>
            <a:off x="5940000" y="2160000"/>
            <a:ext cx="3418560" cy="3035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224280"/>
            <a:ext cx="9070560" cy="9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Кодовая часть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"/>
          <p:cNvPicPr/>
          <p:nvPr/>
        </p:nvPicPr>
        <p:blipFill>
          <a:blip r:embed="rId1"/>
          <a:stretch/>
        </p:blipFill>
        <p:spPr>
          <a:xfrm>
            <a:off x="540000" y="1080000"/>
            <a:ext cx="4006440" cy="395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"/>
          <p:cNvPicPr/>
          <p:nvPr/>
        </p:nvPicPr>
        <p:blipFill>
          <a:blip r:embed="rId2"/>
          <a:stretch/>
        </p:blipFill>
        <p:spPr>
          <a:xfrm>
            <a:off x="5580000" y="1440000"/>
            <a:ext cx="2738880" cy="213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"/>
          <p:cNvSpPr/>
          <p:nvPr/>
        </p:nvSpPr>
        <p:spPr>
          <a:xfrm>
            <a:off x="4547520" y="4140000"/>
            <a:ext cx="337140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Антидребезг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Вывод интерфейса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dissolve/>
      </p:transition>
    </mc:Choice>
    <mc:Fallback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/>
          <p:cNvPicPr/>
          <p:nvPr/>
        </p:nvPicPr>
        <p:blipFill>
          <a:blip r:embed="rId1"/>
          <a:stretch/>
        </p:blipFill>
        <p:spPr>
          <a:xfrm>
            <a:off x="360000" y="1260000"/>
            <a:ext cx="2917080" cy="344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"/>
          <p:cNvPicPr/>
          <p:nvPr/>
        </p:nvPicPr>
        <p:blipFill>
          <a:blip r:embed="rId2"/>
          <a:stretch/>
        </p:blipFill>
        <p:spPr>
          <a:xfrm>
            <a:off x="5940000" y="1364760"/>
            <a:ext cx="3376080" cy="331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"/>
          <p:cNvSpPr/>
          <p:nvPr/>
        </p:nvSpPr>
        <p:spPr>
          <a:xfrm>
            <a:off x="3420000" y="2160000"/>
            <a:ext cx="2158920" cy="19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Добавление устройств</a:t>
            </a:r>
            <a:br>
              <a:rPr sz="1800"/>
            </a:b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Использование EEPROM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4280"/>
            <a:ext cx="9070560" cy="94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Побольше о станциях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"/>
          <p:cNvPicPr/>
          <p:nvPr/>
        </p:nvPicPr>
        <p:blipFill>
          <a:blip r:embed="rId1"/>
          <a:srcRect l="55351" t="31742" r="28575" b="15876"/>
          <a:stretch/>
        </p:blipFill>
        <p:spPr>
          <a:xfrm>
            <a:off x="1260000" y="1172520"/>
            <a:ext cx="2158920" cy="395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"/>
          <p:cNvPicPr/>
          <p:nvPr/>
        </p:nvPicPr>
        <p:blipFill>
          <a:blip r:embed="rId2"/>
          <a:stretch/>
        </p:blipFill>
        <p:spPr>
          <a:xfrm>
            <a:off x="3976560" y="1620000"/>
            <a:ext cx="5202360" cy="3245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/>
          <p:cNvPicPr/>
          <p:nvPr/>
        </p:nvPicPr>
        <p:blipFill>
          <a:blip r:embed="rId1"/>
          <a:stretch/>
        </p:blipFill>
        <p:spPr>
          <a:xfrm>
            <a:off x="540000" y="2642040"/>
            <a:ext cx="3555000" cy="2757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"/>
          <p:cNvPicPr/>
          <p:nvPr/>
        </p:nvPicPr>
        <p:blipFill>
          <a:blip r:embed="rId2"/>
          <a:stretch/>
        </p:blipFill>
        <p:spPr>
          <a:xfrm>
            <a:off x="5830920" y="2341080"/>
            <a:ext cx="3529080" cy="26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"/>
          <p:cNvPicPr/>
          <p:nvPr/>
        </p:nvPicPr>
        <p:blipFill>
          <a:blip r:embed="rId3"/>
          <a:stretch/>
        </p:blipFill>
        <p:spPr>
          <a:xfrm>
            <a:off x="2410920" y="720000"/>
            <a:ext cx="3420000" cy="1662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22464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Соблюдение универсального дизайна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равенство в пользовании ✅</a:t>
            </a:r>
            <a:endParaRPr lang="ru-RU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2.гибкость в пользовании ❌    \ ✅</a:t>
            </a:r>
            <a:endParaRPr lang="ru-RU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3. интуитивный дизайн ✅</a:t>
            </a:r>
            <a:endParaRPr lang="ru-RU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4. Доступная информация ✅</a:t>
            </a:r>
            <a:endParaRPr lang="ru-RU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5. допустимость ошибки ❌    \ ✅</a:t>
            </a:r>
            <a:endParaRPr lang="ru-RU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6. низкие физические усилия ✅</a:t>
            </a:r>
            <a:endParaRPr lang="ru-RU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7. размер и пространство для доступа ✅</a:t>
            </a:r>
            <a:endParaRPr lang="ru-RU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cut thruBlk="true"/>
      </p:transition>
    </mc:Choice>
    <mc:Fallback>
      <p:transition spd="slow">
        <p:cut thruBlk="true"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464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Заключение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Готовый продукт работает, учитывает критерии</a:t>
            </a:r>
            <a:endParaRPr lang="ru-RU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универсального дизайна.</a:t>
            </a:r>
            <a:endParaRPr lang="ru-RU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Код написан для двух устройств и выложен в репозиторий </a:t>
            </a:r>
            <a:endParaRPr lang="ru-RU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github </a:t>
            </a:r>
            <a:endParaRPr lang="ru-RU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Во время работы над проектом были получены полезные</a:t>
            </a:r>
            <a:endParaRPr lang="ru-RU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практические навыки и знания в области программирования</a:t>
            </a:r>
            <a:endParaRPr lang="ru-RU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060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 языке C и работы с arduino</a:t>
            </a:r>
            <a:endParaRPr lang="ru-RU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LibreOffice/26.2.3.2$Linux_X86_64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2026-04-25T20:39:29Z</dcterms:created>
  <dc:creator/>
  <dc:description>This work is licensed under a Creative Commons Attribution-ShareAlike 3.0 Unported License.
It makes use of the works of Mateus Machado Luna.
SVG pictures were made by Rizmut.</dc:description>
  <dc:language>ru-RU</dc:language>
  <cp:lastModifiedBy/>
  <dcterms:modified xsi:type="dcterms:W3CDTF">2026-06-05T10:26:26Z</dcterms:modified>
  <cp:revision>10</cp:revision>
  <dc:subject/>
  <dc:title>Blueprint Plans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